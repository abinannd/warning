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2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BE0E7-8132-43DE-880D-C9FA96B599A2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406D2-0588-4C91-A8EF-4865F74F9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72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406D2-0588-4C91-A8EF-4865F74F900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950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1C979-A1C8-8185-32C0-6CEB33BF3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F9BBB-7A11-A3B3-EC78-309F03F1D1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777BD-F7FC-C815-AF05-A39BCE697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E64B-F970-48CF-9635-9C1042C09B6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B3A43-079A-E264-B457-6E940388F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725A3-400E-66EC-9561-4CAD535A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7A62-FF1E-46FC-B77B-2A113DF50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525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7D42-DA86-3EFA-5968-1308291FC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2CF30-40D8-9A12-30E3-3E11426ED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BFEA6-D888-5105-047D-46CBD4707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E64B-F970-48CF-9635-9C1042C09B6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35057-D70D-37E8-243C-E0A92F0EB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53070-278E-5425-00EB-C882C3463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7A62-FF1E-46FC-B77B-2A113DF50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736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10431-12F4-CA75-E985-D23865599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0198C-6E62-64E9-DC7B-4386CC023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7EA1E-4029-89C3-D9D1-BBEEC2F85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E64B-F970-48CF-9635-9C1042C09B6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7FEF9-19DD-D4B3-19D6-341497AB4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FE5F9-FBC0-C87C-B517-3741D8E1D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7A62-FF1E-46FC-B77B-2A113DF50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864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D52BA-DAFE-33A4-F9B2-4EE4242B6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B6664-FFAA-5976-E8A2-C4688282CE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7186D-CE0A-53FA-12A4-FAFA784EF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D441C-2FFC-C601-18D8-B340999D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E64B-F970-48CF-9635-9C1042C09B6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29ECF-4286-53FC-7188-07561484D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AB5BD-FF43-CD79-CA79-33874CA7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7A62-FF1E-46FC-B77B-2A113DF50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00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41FEB-7949-9FDF-4043-12E1A146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517A9-F8FA-6EF4-9BAB-EB6BBE512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0FFBB-2275-2A92-2181-359F6B593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9E572C-1E04-8E09-E7A6-637C7DA562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2CBCF-CAB1-197C-A0D0-CE9B53B849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362821-9E25-3EAD-DC5C-F59A102D5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E64B-F970-48CF-9635-9C1042C09B6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165DF8-C8A6-CF4C-9B76-63BB65B8F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0D9E27-8CE6-B3BA-AC6D-4DFBF1303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7A62-FF1E-46FC-B77B-2A113DF50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293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CDFD3-79ED-B27A-3C1F-A24EF0A99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E775E8-1FA4-9407-EF8E-D15283E02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E64B-F970-48CF-9635-9C1042C09B6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2BA57-7928-3EB6-1E38-7B6D01DB5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C5EC63-E897-EA61-7AFC-FC2433C6D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7A62-FF1E-46FC-B77B-2A113DF50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74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BE8518-E0F5-D303-DD24-4E758D2F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E64B-F970-48CF-9635-9C1042C09B6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BFF22F-2354-F5BD-6024-0448A4C4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A5AFB-3A97-BC76-5D6B-2A883B075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7A62-FF1E-46FC-B77B-2A113DF50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851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55B21-076A-BE39-4E12-2F3F1CF61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BE6B1-A597-5ABC-610C-209742669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A0E77B-47C9-5BBC-EBF8-885F8C0DD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37504-BC22-13CF-8C45-026EE650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E64B-F970-48CF-9635-9C1042C09B6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991D0-B588-AF26-8D3B-905A76A66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76E3A-BA04-03C2-31BC-06C09618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7A62-FF1E-46FC-B77B-2A113DF50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74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FDAB1-1D9F-4DC4-EBFD-84B47A79F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91CE61-7065-376A-C603-55E9EF73B4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CE903-0864-3626-7A12-24183C876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63934-4B16-0E52-5854-C9700AE28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E64B-F970-48CF-9635-9C1042C09B6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3FD62-3D12-F7B2-1EB5-0ABB282D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F6DFC-0AA9-7D8C-8BEA-FA5A47A9D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7A62-FF1E-46FC-B77B-2A113DF50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426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85E06-E82C-D362-DE85-334594CD4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B838C-2AEF-0902-6DDB-DF3549A25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BA6C9-220B-9356-9F92-91BB82078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E64B-F970-48CF-9635-9C1042C09B6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E6BD0-36A5-AE76-B48B-E9A0CC11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D0366-58F2-98CA-75A2-17851DA74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7A62-FF1E-46FC-B77B-2A113DF50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239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0788E6-81FB-BD24-1DEC-DC834741AF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A3AA2-C236-C0B8-B42F-6F89B1D87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4E79F-2D09-285F-2A38-0B27551D1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E64B-F970-48CF-9635-9C1042C09B6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E323-738F-6EAB-2DA3-74873B68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7AE15-F3B9-1C3B-628C-419977D6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7A62-FF1E-46FC-B77B-2A113DF50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536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748B52-E731-4518-3724-A119E2480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B8685-B081-CFDB-A764-933C5E224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CF775-5383-B263-F153-D66262014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BEE64B-F970-48CF-9635-9C1042C09B6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EBE3B-F114-27C2-2E10-DB15EEE0FD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0350B-EB7B-CFA9-9CB0-3421CBC4F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A7A62-FF1E-46FC-B77B-2A113DF50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064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9E383A-5886-0C29-BA5D-235C110D3B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B6C728-9DF4-E8E3-ADC9-A1D335683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7570" y="1590302"/>
            <a:ext cx="9657708" cy="1186191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Algerian" panose="04020705040A02060702" pitchFamily="82" charset="0"/>
                <a:ea typeface="Cambria Math" panose="02040503050406030204" pitchFamily="18" charset="0"/>
              </a:rPr>
              <a:t>UTWATCH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B5F29-FC5D-D7E7-BC40-4956C3405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6462" y="3018563"/>
            <a:ext cx="10445393" cy="612902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AI-Based Disease Outbreak Detection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Program</a:t>
            </a:r>
          </a:p>
          <a:p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699CCF-0E79-15E3-4BC0-935A28CF0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264" y="1263957"/>
            <a:ext cx="1978203" cy="19782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4A2216F-4380-DBF0-A1F3-C80F0C147B08}"/>
              </a:ext>
            </a:extLst>
          </p:cNvPr>
          <p:cNvSpPr/>
          <p:nvPr/>
        </p:nvSpPr>
        <p:spPr>
          <a:xfrm>
            <a:off x="1582220" y="3708971"/>
            <a:ext cx="9852917" cy="2280863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369A2-5EC7-E536-14C2-C027B8469C61}"/>
              </a:ext>
            </a:extLst>
          </p:cNvPr>
          <p:cNvSpPr txBox="1"/>
          <p:nvPr/>
        </p:nvSpPr>
        <p:spPr>
          <a:xfrm>
            <a:off x="2794570" y="3808939"/>
            <a:ext cx="379458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bg1"/>
                </a:solidFill>
              </a:rPr>
              <a:t>Team Members</a:t>
            </a:r>
          </a:p>
          <a:p>
            <a:endParaRPr lang="en-IN" b="1" u="sng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BHAVIK G NAIR ( LEAD)</a:t>
            </a:r>
          </a:p>
          <a:p>
            <a:r>
              <a:rPr lang="en-IN" b="1" dirty="0">
                <a:solidFill>
                  <a:schemeClr val="bg1"/>
                </a:solidFill>
              </a:rPr>
              <a:t>ABINAND T V</a:t>
            </a:r>
          </a:p>
          <a:p>
            <a:r>
              <a:rPr lang="en-IN" b="1" dirty="0">
                <a:solidFill>
                  <a:schemeClr val="bg1"/>
                </a:solidFill>
              </a:rPr>
              <a:t>MOHAMMED RISHAL T</a:t>
            </a:r>
          </a:p>
          <a:p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2E60C3-CAD9-B720-2CAA-8AB55A52F7A5}"/>
              </a:ext>
            </a:extLst>
          </p:cNvPr>
          <p:cNvSpPr txBox="1"/>
          <p:nvPr/>
        </p:nvSpPr>
        <p:spPr>
          <a:xfrm>
            <a:off x="6368264" y="3839437"/>
            <a:ext cx="3250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Team ID: H26HLT08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57DF01-A364-202D-F9CB-56ADFEBC71A3}"/>
              </a:ext>
            </a:extLst>
          </p:cNvPr>
          <p:cNvSpPr txBox="1"/>
          <p:nvPr/>
        </p:nvSpPr>
        <p:spPr>
          <a:xfrm>
            <a:off x="6368264" y="4387737"/>
            <a:ext cx="37945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bg1"/>
                </a:solidFill>
              </a:rPr>
              <a:t>COLLEGE NAME: </a:t>
            </a:r>
          </a:p>
          <a:p>
            <a:r>
              <a:rPr lang="en-IN" dirty="0">
                <a:solidFill>
                  <a:schemeClr val="bg1"/>
                </a:solidFill>
              </a:rPr>
              <a:t>COCHIN UNIVERSITY COLLEGE OF ENGINEERING KUTTANAD</a:t>
            </a:r>
          </a:p>
        </p:txBody>
      </p:sp>
    </p:spTree>
    <p:extLst>
      <p:ext uri="{BB962C8B-B14F-4D97-AF65-F5344CB8AC3E}">
        <p14:creationId xmlns:p14="http://schemas.microsoft.com/office/powerpoint/2010/main" val="286457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810C82-FCD2-BB17-BFA9-8232092079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07806F-F54E-72B0-9A3D-B2CB5C305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910" y="690769"/>
            <a:ext cx="10377756" cy="693111"/>
          </a:xfrm>
        </p:spPr>
        <p:txBody>
          <a:bodyPr>
            <a:normAutofit fontScale="90000"/>
          </a:bodyPr>
          <a:lstStyle/>
          <a:p>
            <a:r>
              <a:rPr lang="en-IN" b="1" u="sng" dirty="0">
                <a:solidFill>
                  <a:schemeClr val="bg1"/>
                </a:solidFill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275A0-9735-9E11-E07E-BFD2417B9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910" y="1579045"/>
            <a:ext cx="10925710" cy="1603375"/>
          </a:xfrm>
        </p:spPr>
        <p:txBody>
          <a:bodyPr>
            <a:normAutofit/>
          </a:bodyPr>
          <a:lstStyle/>
          <a:p>
            <a:r>
              <a:rPr lang="en-IN" sz="1800" b="1" dirty="0">
                <a:solidFill>
                  <a:schemeClr val="bg1"/>
                </a:solidFill>
                <a:latin typeface="Bahnschrift" panose="020B0502040204020203" pitchFamily="34" charset="0"/>
              </a:rPr>
              <a:t>In India most of the people  identify outbreaks only after a significant rise in reported cases, leaving people unaware of emerging health risks in specific regions. This delay increases the likelihood of exposure to the diseases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369BC-49F0-BA09-1876-EE5B922BD0FC}"/>
              </a:ext>
            </a:extLst>
          </p:cNvPr>
          <p:cNvSpPr txBox="1"/>
          <p:nvPr/>
        </p:nvSpPr>
        <p:spPr>
          <a:xfrm>
            <a:off x="714910" y="2662486"/>
            <a:ext cx="744576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>
                <a:solidFill>
                  <a:schemeClr val="bg1"/>
                </a:solidFill>
                <a:latin typeface="Algerian" panose="04020705040A02060702" pitchFamily="82" charset="0"/>
              </a:rPr>
              <a:t>Objectives of the Proposed Solution</a:t>
            </a:r>
          </a:p>
          <a:p>
            <a:pPr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ahnschrift" panose="020B0502040204020203" pitchFamily="34" charset="0"/>
              </a:rPr>
              <a:t>Detect unusual increases in disease cases using AI and historical health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ahnschrift" panose="020B0502040204020203" pitchFamily="34" charset="0"/>
              </a:rPr>
              <a:t>Predict potential disease outbreak hotspots before they become severe.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ahnschrift" panose="020B0502040204020203" pitchFamily="34" charset="0"/>
              </a:rPr>
              <a:t>Provide early alerts for affected regions to help people make necessary </a:t>
            </a:r>
            <a:r>
              <a:rPr lang="en-IN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precuations</a:t>
            </a:r>
            <a:r>
              <a:rPr lang="en-IN" b="1" dirty="0">
                <a:solidFill>
                  <a:schemeClr val="bg1"/>
                </a:solidFill>
                <a:latin typeface="Bahnschrift" panose="020B0502040204020203" pitchFamily="34" charset="0"/>
              </a:rPr>
              <a:t> before travelling there or interacting with a person there</a:t>
            </a:r>
          </a:p>
        </p:txBody>
      </p:sp>
    </p:spTree>
    <p:extLst>
      <p:ext uri="{BB962C8B-B14F-4D97-AF65-F5344CB8AC3E}">
        <p14:creationId xmlns:p14="http://schemas.microsoft.com/office/powerpoint/2010/main" val="70412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D7CFDC8-D665-20AB-75DF-1D4AFD447C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93EBA5-4C12-E177-5F69-6198E8D22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u="sng" dirty="0">
                <a:solidFill>
                  <a:schemeClr val="bg1"/>
                </a:solidFill>
                <a:latin typeface="Algerian" panose="04020705040A02060702" pitchFamily="82" charset="0"/>
              </a:rPr>
              <a:t>EXISTING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D5D84-6865-2578-F9AB-BA0C32939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716" y="1476303"/>
            <a:ext cx="11357226" cy="2561441"/>
          </a:xfrm>
        </p:spPr>
        <p:txBody>
          <a:bodyPr>
            <a:normAutofit fontScale="92500" lnSpcReduction="20000"/>
          </a:bodyPr>
          <a:lstStyle/>
          <a:p>
            <a:r>
              <a:rPr lang="en-IN" sz="1800" b="1" dirty="0">
                <a:solidFill>
                  <a:schemeClr val="bg1"/>
                </a:solidFill>
                <a:latin typeface="Bahnschrift" panose="020B0502040204020203" pitchFamily="34" charset="0"/>
              </a:rPr>
              <a:t>The Integrated Disease Surveillance Programme (IDSP) collects disease data through a hierarchical reporting system, where information passes from local health </a:t>
            </a:r>
            <a:r>
              <a:rPr lang="en-IN" sz="1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centers</a:t>
            </a:r>
            <a:r>
              <a:rPr lang="en-IN" sz="1800" b="1" dirty="0">
                <a:solidFill>
                  <a:schemeClr val="bg1"/>
                </a:solidFill>
                <a:latin typeface="Bahnschrift" panose="020B0502040204020203" pitchFamily="34" charset="0"/>
              </a:rPr>
              <a:t> to district, state, and national authorities. This process can delay outbreak reporting, causing the public to receive information only after the disease has already spread.</a:t>
            </a:r>
          </a:p>
          <a:p>
            <a:endParaRPr lang="en-IN" sz="1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  <a:latin typeface="Algerian" panose="04020705040A02060702" pitchFamily="82" charset="0"/>
              </a:rPr>
              <a:t>   How </a:t>
            </a:r>
            <a:r>
              <a:rPr lang="en-IN" sz="1800" b="1" dirty="0" err="1">
                <a:solidFill>
                  <a:schemeClr val="bg1"/>
                </a:solidFill>
                <a:latin typeface="Algerian" panose="04020705040A02060702" pitchFamily="82" charset="0"/>
              </a:rPr>
              <a:t>OutWatch</a:t>
            </a:r>
            <a:r>
              <a:rPr lang="en-IN" sz="1800" b="1" dirty="0">
                <a:solidFill>
                  <a:schemeClr val="bg1"/>
                </a:solidFill>
                <a:latin typeface="Algerian" panose="04020705040A02060702" pitchFamily="82" charset="0"/>
              </a:rPr>
              <a:t> Improves It:</a:t>
            </a:r>
            <a:endParaRPr lang="en-IN" sz="1800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pPr lvl="0"/>
            <a:r>
              <a:rPr lang="en-IN" sz="1800" dirty="0">
                <a:solidFill>
                  <a:schemeClr val="bg1"/>
                </a:solidFill>
              </a:rPr>
              <a:t>Uses AI to detect unusual increases in disease cases early. </a:t>
            </a:r>
          </a:p>
          <a:p>
            <a:pPr lvl="0"/>
            <a:r>
              <a:rPr lang="en-IN" sz="1800" dirty="0">
                <a:solidFill>
                  <a:schemeClr val="bg1"/>
                </a:solidFill>
              </a:rPr>
              <a:t>Predicts potential outbreak hotspots before they become severe. </a:t>
            </a:r>
          </a:p>
          <a:p>
            <a:pPr lvl="0"/>
            <a:r>
              <a:rPr lang="en-IN" sz="1800" dirty="0">
                <a:solidFill>
                  <a:schemeClr val="bg1"/>
                </a:solidFill>
              </a:rPr>
              <a:t>Provides easy-to-understand regional alerts for the public.</a:t>
            </a:r>
          </a:p>
          <a:p>
            <a:pPr lvl="0"/>
            <a:endParaRPr lang="en-IN" sz="1800" dirty="0"/>
          </a:p>
          <a:p>
            <a:pPr lvl="0"/>
            <a:endParaRPr lang="en-IN" sz="1800" dirty="0"/>
          </a:p>
          <a:p>
            <a:endParaRPr lang="en-IN" sz="1800" b="1" dirty="0"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96D857-7E39-8784-A693-2EC9E6C733A5}"/>
              </a:ext>
            </a:extLst>
          </p:cNvPr>
          <p:cNvSpPr txBox="1"/>
          <p:nvPr/>
        </p:nvSpPr>
        <p:spPr>
          <a:xfrm>
            <a:off x="838199" y="4037744"/>
            <a:ext cx="756606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bg1"/>
                </a:solidFill>
                <a:latin typeface="Algerian" panose="04020705040A02060702" pitchFamily="82" charset="0"/>
              </a:rPr>
              <a:t>TECHNICAL GAPS</a:t>
            </a:r>
          </a:p>
          <a:p>
            <a:endParaRPr lang="en-IN" b="1" u="sng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False alerts in low-case regions</a:t>
            </a:r>
            <a:r>
              <a:rPr lang="en-IN" sz="1600" dirty="0">
                <a:solidFill>
                  <a:schemeClr val="bg1"/>
                </a:solidFill>
              </a:rPr>
              <a:t> due to unstable statistical calculations.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Overlapping baseline windows</a:t>
            </a:r>
            <a:r>
              <a:rPr lang="en-IN" sz="1600" dirty="0">
                <a:solidFill>
                  <a:schemeClr val="bg1"/>
                </a:solidFill>
              </a:rPr>
              <a:t> reduce the ability to detect real outbreaks.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Single alert threshold</a:t>
            </a:r>
            <a:r>
              <a:rPr lang="en-IN" sz="1600" dirty="0">
                <a:solidFill>
                  <a:schemeClr val="bg1"/>
                </a:solidFill>
              </a:rPr>
              <a:t> cannot balance early detection and false alarms.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Parameter tuning bias</a:t>
            </a:r>
            <a:r>
              <a:rPr lang="en-IN" sz="1600" dirty="0">
                <a:solidFill>
                  <a:schemeClr val="bg1"/>
                </a:solidFill>
              </a:rPr>
              <a:t> can lead to unrealistic evaluation results.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Different districts show different disease patterns</a:t>
            </a:r>
            <a:r>
              <a:rPr lang="en-IN" sz="1600" dirty="0">
                <a:solidFill>
                  <a:schemeClr val="bg1"/>
                </a:solidFill>
              </a:rPr>
              <a:t>, making one-size-fits-all settings less effective.</a:t>
            </a:r>
          </a:p>
          <a:p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1655547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44B424-D89A-0955-F79D-A443C1669D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FF06D-50D6-AE15-3E17-344235FDB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429" y="365127"/>
            <a:ext cx="10515600" cy="1325563"/>
          </a:xfrm>
        </p:spPr>
        <p:txBody>
          <a:bodyPr>
            <a:normAutofit/>
          </a:bodyPr>
          <a:lstStyle/>
          <a:p>
            <a:r>
              <a:rPr lang="en-IN" sz="2400" b="1" u="sng" dirty="0">
                <a:solidFill>
                  <a:schemeClr val="bg1"/>
                </a:solidFill>
                <a:latin typeface="Algerian" panose="04020705040A02060702" pitchFamily="82" charset="0"/>
              </a:rPr>
              <a:t>SYSTEM DESIGN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68208C1-E07C-10EA-A598-DFF90D392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36378"/>
            <a:ext cx="9739901" cy="51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73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E19CDF-7A08-52B2-C1EC-6DF33CD082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EB-894F-CE14-74C2-27C88E8DA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Algerian" panose="04020705040A02060702" pitchFamily="82" charset="0"/>
              </a:rPr>
              <a:t>IMPLEMENTATION PROGRESS……..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DC6FE-B961-E88C-26F4-1E91C5A4F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Successfully implemented the supervised chess AI training </a:t>
            </a:r>
            <a:r>
              <a:rPr lang="en-US" sz="14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pipeline.Completed</a:t>
            </a:r>
            <a:r>
              <a:rPr lang="en-US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 PGN dataset preprocessing, board encoding, move encoding, and dataset generation.</a:t>
            </a:r>
          </a:p>
          <a:p>
            <a:r>
              <a:rPr lang="en-US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Developed and verified the </a:t>
            </a:r>
            <a:r>
              <a:rPr lang="en-US" sz="14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PyTorch</a:t>
            </a:r>
            <a:r>
              <a:rPr lang="en-US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 data loader and CNN </a:t>
            </a:r>
            <a:r>
              <a:rPr lang="en-US" sz="14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model.Implemented</a:t>
            </a:r>
            <a:r>
              <a:rPr lang="en-US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 the training pipeline with checkpoint saving, validation, and performance tracking.</a:t>
            </a:r>
          </a:p>
          <a:p>
            <a:r>
              <a:rPr lang="en-US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All implementation tests passed, and the training process has been successfully executed, with the model currently progressing through training and showing improving validation performance.</a:t>
            </a:r>
            <a:endParaRPr lang="en-IN" sz="1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552BA1-7D84-50FD-527B-D57CDB6CDC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52" y="3564385"/>
            <a:ext cx="4336548" cy="26019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478492-3E69-5677-A67E-BF2E772EF1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3564386"/>
            <a:ext cx="4336548" cy="260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514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652AC4-17F8-6075-D544-C065D8958C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E8C13B-5E51-74BA-76AF-4FAD3F764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7"/>
            <a:ext cx="10515600" cy="1325563"/>
          </a:xfrm>
        </p:spPr>
        <p:txBody>
          <a:bodyPr/>
          <a:lstStyle/>
          <a:p>
            <a:r>
              <a:rPr lang="en-IN" b="1" u="sng" dirty="0">
                <a:solidFill>
                  <a:schemeClr val="bg1"/>
                </a:solidFill>
                <a:latin typeface="Algerian" panose="04020705040A02060702" pitchFamily="82" charset="0"/>
              </a:rPr>
              <a:t>FUNCTIONS COMPLETED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A25375-1B9D-C39B-4D51-EFF3030392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3996"/>
            <a:ext cx="9690360" cy="558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60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9AEE6C-F4C1-1F3E-4F65-6FFB853E22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60154-1EB1-5558-9FB4-62931980D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6466" y="250666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7200" dirty="0">
                <a:solidFill>
                  <a:schemeClr val="bg1"/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92911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UTWATCH</Template>
  <TotalTime>34</TotalTime>
  <Words>356</Words>
  <Application>Microsoft Office PowerPoint</Application>
  <PresentationFormat>Widescreen</PresentationFormat>
  <Paragraphs>43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UTWATCH</vt:lpstr>
      <vt:lpstr>Problem Statement</vt:lpstr>
      <vt:lpstr>EXISTING SOLUTION</vt:lpstr>
      <vt:lpstr>SYSTEM DESIGN</vt:lpstr>
      <vt:lpstr>IMPLEMENTATION PROGRESS……..</vt:lpstr>
      <vt:lpstr>FUNCTIONS COMPLETED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rishal MOHD</dc:creator>
  <cp:lastModifiedBy>rishal MOHD</cp:lastModifiedBy>
  <cp:revision>4</cp:revision>
  <dcterms:created xsi:type="dcterms:W3CDTF">2026-07-31T08:59:06Z</dcterms:created>
  <dcterms:modified xsi:type="dcterms:W3CDTF">2026-08-01T06:38:47Z</dcterms:modified>
</cp:coreProperties>
</file>